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75" r:id="rId2"/>
    <p:sldId id="258" r:id="rId3"/>
    <p:sldId id="276" r:id="rId4"/>
    <p:sldId id="278" r:id="rId5"/>
    <p:sldId id="283" r:id="rId6"/>
    <p:sldId id="256" r:id="rId7"/>
    <p:sldId id="277" r:id="rId8"/>
    <p:sldId id="282" r:id="rId9"/>
    <p:sldId id="279" r:id="rId10"/>
    <p:sldId id="266" r:id="rId11"/>
    <p:sldId id="265" r:id="rId12"/>
    <p:sldId id="284" r:id="rId13"/>
    <p:sldId id="285" r:id="rId14"/>
    <p:sldId id="286" r:id="rId15"/>
    <p:sldId id="290" r:id="rId16"/>
    <p:sldId id="287" r:id="rId17"/>
    <p:sldId id="292" r:id="rId18"/>
    <p:sldId id="294" r:id="rId19"/>
    <p:sldId id="29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24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360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7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35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995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7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6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92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03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074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9374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082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866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88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869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07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A783B-0D00-46F5-A57F-D717B22D039F}" type="datetimeFigureOut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F136B77-84BD-4999-95F0-BA731C471E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50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What is Resume Parsing? HireAbility Resume and Job Parsing Solutions.">
            <a:extLst>
              <a:ext uri="{FF2B5EF4-FFF2-40B4-BE49-F238E27FC236}">
                <a16:creationId xmlns:a16="http://schemas.microsoft.com/office/drawing/2014/main" id="{874B3939-2BEE-5C07-432C-774DB6681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4680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CF4A0D-488C-ADDE-41BE-E8920214645C}"/>
              </a:ext>
            </a:extLst>
          </p:cNvPr>
          <p:cNvSpPr txBox="1"/>
          <p:nvPr/>
        </p:nvSpPr>
        <p:spPr>
          <a:xfrm>
            <a:off x="4515893" y="1728406"/>
            <a:ext cx="3115904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1800" b="1" dirty="0">
                <a:effectLst/>
                <a:latin typeface="Lexend"/>
                <a:ea typeface="Times New Roman" panose="02020603050405020304" pitchFamily="18" charset="0"/>
                <a:cs typeface="Arial" panose="020B0604020202020204" pitchFamily="34" charset="0"/>
              </a:rPr>
              <a:t>Mr. Gore </a:t>
            </a:r>
            <a:r>
              <a:rPr lang="en-IN" sz="1800" b="1" dirty="0" err="1">
                <a:effectLst/>
                <a:latin typeface="Lexend"/>
                <a:ea typeface="Times New Roman" panose="02020603050405020304" pitchFamily="18" charset="0"/>
                <a:cs typeface="Arial" panose="020B0604020202020204" pitchFamily="34" charset="0"/>
              </a:rPr>
              <a:t>Mayuresh</a:t>
            </a:r>
            <a:r>
              <a:rPr lang="en-IN" sz="1800" b="1" dirty="0">
                <a:effectLst/>
                <a:latin typeface="Lexend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IN" sz="1800" b="1" dirty="0" err="1">
                <a:effectLst/>
                <a:latin typeface="Lexend"/>
                <a:ea typeface="Times New Roman" panose="02020603050405020304" pitchFamily="18" charset="0"/>
                <a:cs typeface="Arial" panose="020B0604020202020204" pitchFamily="34" charset="0"/>
              </a:rPr>
              <a:t>Hanumant</a:t>
            </a:r>
            <a:endParaRPr lang="en-IN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84914-6188-F27A-FFD7-ED876B615D03}"/>
              </a:ext>
            </a:extLst>
          </p:cNvPr>
          <p:cNvSpPr txBox="1"/>
          <p:nvPr/>
        </p:nvSpPr>
        <p:spPr>
          <a:xfrm>
            <a:off x="2493282" y="0"/>
            <a:ext cx="74814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RESUME CLASSIFICA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TION </a:t>
            </a:r>
            <a:endParaRPr lang="en-US" sz="40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037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88A752-F43E-0369-8B56-E11B2AC4254C}"/>
              </a:ext>
            </a:extLst>
          </p:cNvPr>
          <p:cNvSpPr/>
          <p:nvPr/>
        </p:nvSpPr>
        <p:spPr>
          <a:xfrm>
            <a:off x="1727021" y="373396"/>
            <a:ext cx="8445679" cy="99424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Business Objective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666658-8984-FAB3-6C57-41FD24752FC1}"/>
              </a:ext>
            </a:extLst>
          </p:cNvPr>
          <p:cNvSpPr txBox="1"/>
          <p:nvPr/>
        </p:nvSpPr>
        <p:spPr>
          <a:xfrm>
            <a:off x="2280203" y="1596241"/>
            <a:ext cx="78924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The document classification solution should significantly reduce the manual human effort in the HRM .It should achieve a higher level of accuracy and automation with minimal human intervention</a:t>
            </a:r>
            <a:r>
              <a:rPr lang="en-US" dirty="0">
                <a:solidFill>
                  <a:schemeClr val="accent2"/>
                </a:solidFill>
              </a:rPr>
              <a:t>.</a:t>
            </a:r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C2D3856-D99D-0899-6D88-278E97DBFF1D}"/>
              </a:ext>
            </a:extLst>
          </p:cNvPr>
          <p:cNvSpPr/>
          <p:nvPr/>
        </p:nvSpPr>
        <p:spPr>
          <a:xfrm>
            <a:off x="1452588" y="501897"/>
            <a:ext cx="97655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oper Black" panose="0208090404030B020404" pitchFamily="18" charset="0"/>
                <a:cs typeface="Times New Roman" panose="02020603050405020304" pitchFamily="18" charset="0"/>
              </a:rPr>
              <a:t>PROJECT ARCHITECTURE</a:t>
            </a:r>
            <a:endParaRPr lang="en-US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90900D-4568-5162-AE2C-1D9C9907372F}"/>
              </a:ext>
            </a:extLst>
          </p:cNvPr>
          <p:cNvSpPr/>
          <p:nvPr/>
        </p:nvSpPr>
        <p:spPr>
          <a:xfrm>
            <a:off x="728870" y="2027583"/>
            <a:ext cx="2385392" cy="1369296"/>
          </a:xfrm>
          <a:prstGeom prst="roundRect">
            <a:avLst/>
          </a:prstGeom>
          <a:solidFill>
            <a:schemeClr val="tx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Schoolbook" panose="02040604050505020304" pitchFamily="18" charset="0"/>
              </a:rPr>
              <a:t>Collection of Data</a:t>
            </a:r>
            <a:endParaRPr lang="en-IN" sz="2400" dirty="0">
              <a:latin typeface="Century Schoolbook" panose="020406040505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A3DDBC-E483-1902-F23C-1D9FC4D2EAF1}"/>
              </a:ext>
            </a:extLst>
          </p:cNvPr>
          <p:cNvSpPr/>
          <p:nvPr/>
        </p:nvSpPr>
        <p:spPr>
          <a:xfrm>
            <a:off x="5050138" y="2027583"/>
            <a:ext cx="2570459" cy="136929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Schoolbook" panose="02040604050505020304" pitchFamily="18" charset="0"/>
              </a:rPr>
              <a:t>Business Understanding</a:t>
            </a:r>
            <a:endParaRPr lang="en-IN" sz="2400" dirty="0">
              <a:latin typeface="Century Schoolbook" panose="020406040505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77D268-59AC-2676-CA8B-5BFA7736E39D}"/>
              </a:ext>
            </a:extLst>
          </p:cNvPr>
          <p:cNvSpPr/>
          <p:nvPr/>
        </p:nvSpPr>
        <p:spPr>
          <a:xfrm>
            <a:off x="9035730" y="2027582"/>
            <a:ext cx="2760030" cy="140141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Schoolbook" panose="02040604050505020304" pitchFamily="18" charset="0"/>
              </a:rPr>
              <a:t>Exploratory Data Analysis(EDA)</a:t>
            </a:r>
            <a:endParaRPr lang="en-IN" sz="2400" dirty="0">
              <a:latin typeface="Century Schoolbook" panose="020406040505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3E3B9F-0E62-654D-89F2-180B186A721D}"/>
              </a:ext>
            </a:extLst>
          </p:cNvPr>
          <p:cNvSpPr/>
          <p:nvPr/>
        </p:nvSpPr>
        <p:spPr>
          <a:xfrm>
            <a:off x="4451013" y="5155095"/>
            <a:ext cx="2760031" cy="13692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entury Schoolbook" panose="02040604050505020304" pitchFamily="18" charset="0"/>
              </a:rPr>
              <a:t>Deployment</a:t>
            </a:r>
            <a:endParaRPr lang="en-IN" sz="2800" dirty="0">
              <a:latin typeface="Century Schoolbook" panose="020406040505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45D35B-9439-43C7-63D4-A24D32BF344A}"/>
              </a:ext>
            </a:extLst>
          </p:cNvPr>
          <p:cNvSpPr/>
          <p:nvPr/>
        </p:nvSpPr>
        <p:spPr>
          <a:xfrm>
            <a:off x="9077738" y="5155095"/>
            <a:ext cx="2558002" cy="140141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Schoolbook" panose="02040604050505020304" pitchFamily="18" charset="0"/>
              </a:rPr>
              <a:t>Model Building</a:t>
            </a:r>
            <a:endParaRPr lang="en-IN" sz="2400" dirty="0">
              <a:latin typeface="Century Schoolbook" panose="020406040505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5163497-C43B-1E75-14A7-63577EB58C37}"/>
              </a:ext>
            </a:extLst>
          </p:cNvPr>
          <p:cNvSpPr/>
          <p:nvPr/>
        </p:nvSpPr>
        <p:spPr>
          <a:xfrm>
            <a:off x="3592996" y="2500884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58364F4-CAB9-CF31-9DF3-8F80833EC397}"/>
              </a:ext>
            </a:extLst>
          </p:cNvPr>
          <p:cNvSpPr/>
          <p:nvPr/>
        </p:nvSpPr>
        <p:spPr>
          <a:xfrm>
            <a:off x="7838959" y="2514600"/>
            <a:ext cx="978408" cy="4846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9C64D48-233C-E849-4750-D2A29526EB66}"/>
              </a:ext>
            </a:extLst>
          </p:cNvPr>
          <p:cNvSpPr/>
          <p:nvPr/>
        </p:nvSpPr>
        <p:spPr>
          <a:xfrm>
            <a:off x="10215437" y="3858542"/>
            <a:ext cx="484632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23299B5E-CD8F-9AFF-AEFB-60A36B0CA001}"/>
              </a:ext>
            </a:extLst>
          </p:cNvPr>
          <p:cNvSpPr/>
          <p:nvPr/>
        </p:nvSpPr>
        <p:spPr>
          <a:xfrm>
            <a:off x="7726298" y="5613487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35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CCB5BA6-4C7D-478A-86ED-4F907970D6CD}"/>
              </a:ext>
            </a:extLst>
          </p:cNvPr>
          <p:cNvSpPr txBox="1"/>
          <p:nvPr/>
        </p:nvSpPr>
        <p:spPr>
          <a:xfrm>
            <a:off x="1435223" y="585926"/>
            <a:ext cx="932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2"/>
                </a:solidFill>
              </a:rPr>
              <a:t>Converting all file to .txt (Process)</a:t>
            </a:r>
            <a:endParaRPr lang="en-IN" sz="3600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48880-E6D1-EA97-3AAF-8CEEA992D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4300"/>
            <a:ext cx="10126488" cy="2933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D4EBF6-0ED3-96B9-25F8-64E317573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2256"/>
            <a:ext cx="7874000" cy="269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05BFE-5FFC-4754-A77D-5094044B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066" y="609600"/>
            <a:ext cx="7391936" cy="1320800"/>
          </a:xfrm>
        </p:spPr>
        <p:txBody>
          <a:bodyPr/>
          <a:lstStyle/>
          <a:p>
            <a:r>
              <a:rPr lang="en-IN" dirty="0"/>
              <a:t>Merging all category files.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A6EB9D-B519-4CDD-932D-8DDD5B05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25" y="1648657"/>
            <a:ext cx="11705150" cy="471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64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CCB5BA6-4C7D-478A-86ED-4F907970D6CD}"/>
              </a:ext>
            </a:extLst>
          </p:cNvPr>
          <p:cNvSpPr txBox="1"/>
          <p:nvPr/>
        </p:nvSpPr>
        <p:spPr>
          <a:xfrm>
            <a:off x="1435223" y="585926"/>
            <a:ext cx="932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2"/>
                </a:solidFill>
              </a:rPr>
              <a:t>Converting text to .csv (Process)</a:t>
            </a:r>
            <a:endParaRPr lang="en-IN" sz="3600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3B9622-F888-4130-B4C8-345D15629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74" y="1487538"/>
            <a:ext cx="11585359" cy="529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40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DD2C39-3028-45F9-89A0-0D38BF89FBF3}"/>
              </a:ext>
            </a:extLst>
          </p:cNvPr>
          <p:cNvSpPr/>
          <p:nvPr/>
        </p:nvSpPr>
        <p:spPr>
          <a:xfrm>
            <a:off x="3132992" y="105751"/>
            <a:ext cx="51363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u="sng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Set Details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F82221-E7A2-8B51-58CE-A1328EA4E7DE}"/>
              </a:ext>
            </a:extLst>
          </p:cNvPr>
          <p:cNvSpPr txBox="1"/>
          <p:nvPr/>
        </p:nvSpPr>
        <p:spPr>
          <a:xfrm>
            <a:off x="277907" y="1078387"/>
            <a:ext cx="74161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entury Schoolbook" panose="02040604050505020304" pitchFamily="18" charset="0"/>
              </a:rPr>
              <a:t>After Extracting and Modifying the Dataset, given data contains a total of 4 Classes and 79 rows . </a:t>
            </a:r>
            <a:endParaRPr lang="en-IN" sz="3000" dirty="0">
              <a:ln w="0"/>
              <a:solidFill>
                <a:schemeClr val="accent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12F6D-0924-ABE3-8A2B-76217AEDD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07" y="2555715"/>
            <a:ext cx="7155279" cy="4315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EAD1F4-A6DD-ED34-FDD4-E326592A6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187" y="1029080"/>
            <a:ext cx="4758813" cy="582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46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E6E213-7AE8-48FB-8B3C-5D3FDC36DE3B}"/>
              </a:ext>
            </a:extLst>
          </p:cNvPr>
          <p:cNvSpPr txBox="1"/>
          <p:nvPr/>
        </p:nvSpPr>
        <p:spPr>
          <a:xfrm>
            <a:off x="2964371" y="197317"/>
            <a:ext cx="51699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92D050"/>
                </a:solidFill>
                <a:latin typeface="+mj-lt"/>
                <a:cs typeface="Calibri Light" panose="020F0302020204030204" pitchFamily="34" charset="0"/>
              </a:rPr>
              <a:t>Text – Preprocessing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4B6304-D079-FAC8-E702-D66C37552681}"/>
              </a:ext>
            </a:extLst>
          </p:cNvPr>
          <p:cNvSpPr txBox="1"/>
          <p:nvPr/>
        </p:nvSpPr>
        <p:spPr>
          <a:xfrm>
            <a:off x="3392996" y="905203"/>
            <a:ext cx="357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elvetica Neue"/>
              </a:rPr>
              <a:t>Clean Text from Resume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26BE9A-C5E7-7B58-51F2-C5BC9CF3A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1499"/>
          <a:stretch/>
        </p:blipFill>
        <p:spPr>
          <a:xfrm>
            <a:off x="0" y="1274534"/>
            <a:ext cx="12039600" cy="21544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B587FA-AD03-B2F5-1138-0B69B2E96A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780"/>
          <a:stretch/>
        </p:blipFill>
        <p:spPr>
          <a:xfrm>
            <a:off x="0" y="3798330"/>
            <a:ext cx="12192000" cy="245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0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E6E213-7AE8-48FB-8B3C-5D3FDC36DE3B}"/>
              </a:ext>
            </a:extLst>
          </p:cNvPr>
          <p:cNvSpPr txBox="1"/>
          <p:nvPr/>
        </p:nvSpPr>
        <p:spPr>
          <a:xfrm>
            <a:off x="3567706" y="75080"/>
            <a:ext cx="7148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92D050"/>
                </a:solidFill>
                <a:latin typeface="+mj-lt"/>
                <a:cs typeface="Calibri Light" panose="020F0302020204030204" pitchFamily="34" charset="0"/>
              </a:rPr>
              <a:t>Text – Preprocessing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E2204-F418-DFB3-BF27-CAAF7473D241}"/>
              </a:ext>
            </a:extLst>
          </p:cNvPr>
          <p:cNvSpPr txBox="1"/>
          <p:nvPr/>
        </p:nvSpPr>
        <p:spPr>
          <a:xfrm>
            <a:off x="1262610" y="791032"/>
            <a:ext cx="935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+mj-lt"/>
                <a:cs typeface="Calibri Light" panose="020F0302020204030204" pitchFamily="34" charset="0"/>
              </a:rPr>
              <a:t>After Text – Preprocessing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AD6DA-6D30-F184-4FE5-E5348771C502}"/>
              </a:ext>
            </a:extLst>
          </p:cNvPr>
          <p:cNvSpPr txBox="1"/>
          <p:nvPr/>
        </p:nvSpPr>
        <p:spPr>
          <a:xfrm>
            <a:off x="98124" y="5750004"/>
            <a:ext cx="102306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 </a:t>
            </a:r>
            <a:r>
              <a:rPr lang="en-US" sz="2200" dirty="0">
                <a:latin typeface="Century Schoolbook" panose="02040604050505020304" pitchFamily="18" charset="0"/>
              </a:rPr>
              <a:t>The Dataset contains 79 rows and 3 Column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Century Schoolbook" panose="02040604050505020304" pitchFamily="18" charset="0"/>
              </a:rPr>
              <a:t>There are total four Classes – Peoplesoft, Workday, React JS Developer and SQL Developer.</a:t>
            </a:r>
            <a:endParaRPr lang="en-IN" sz="2200" dirty="0">
              <a:latin typeface="Century Schoolbook" panose="020406040505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BC409-3D07-A9AD-3C39-F01D5F11B092}"/>
              </a:ext>
            </a:extLst>
          </p:cNvPr>
          <p:cNvSpPr txBox="1"/>
          <p:nvPr/>
        </p:nvSpPr>
        <p:spPr>
          <a:xfrm>
            <a:off x="0" y="1402826"/>
            <a:ext cx="25252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Century Schoolbook" panose="02040604050505020304" pitchFamily="18" charset="0"/>
              </a:rPr>
              <a:t>In natural language processing, text preprocessing is </a:t>
            </a:r>
            <a:r>
              <a:rPr lang="en-US" b="1" i="0" dirty="0">
                <a:solidFill>
                  <a:srgbClr val="202124"/>
                </a:solidFill>
                <a:effectLst/>
                <a:latin typeface="Century Schoolbook" panose="02040604050505020304" pitchFamily="18" charset="0"/>
              </a:rPr>
              <a:t>the practice of cleaning and preparing text data</a:t>
            </a:r>
            <a:r>
              <a:rPr lang="en-US" b="0" i="0" dirty="0">
                <a:solidFill>
                  <a:srgbClr val="202124"/>
                </a:solidFill>
                <a:effectLst/>
                <a:latin typeface="Century Schoolbook" panose="02040604050505020304" pitchFamily="18" charset="0"/>
              </a:rPr>
              <a:t>. NLTK and re are common Python libraries used to handle many text preprocessing tasks.</a:t>
            </a:r>
            <a:endParaRPr lang="en-IN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661EC-7BC9-CF8F-C9E5-5B225DB8E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384" y="1280787"/>
            <a:ext cx="8310830" cy="42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99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BE677-E6DC-427F-8C11-9EC7956F5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64" y="29418"/>
            <a:ext cx="9230146" cy="61551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Labels</a:t>
            </a: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05004CDB-A25B-DBFE-96FB-B4F1A0AAD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64" y="2237110"/>
            <a:ext cx="5159749" cy="438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10447243-EFA0-EA29-9797-C77F67F1A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257" y="1436567"/>
            <a:ext cx="5857875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F58BA2-BF96-C355-DF43-8FACC2220B28}"/>
              </a:ext>
            </a:extLst>
          </p:cNvPr>
          <p:cNvSpPr txBox="1"/>
          <p:nvPr/>
        </p:nvSpPr>
        <p:spPr>
          <a:xfrm>
            <a:off x="447049" y="1260769"/>
            <a:ext cx="56822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Schoolbook" panose="02040604050505020304" pitchFamily="18" charset="0"/>
              </a:rPr>
              <a:t>By using Pie chart roles applied feature is displayed to visualize the job roles.</a:t>
            </a:r>
            <a:endParaRPr lang="en-IN" sz="2000" dirty="0">
              <a:latin typeface="Century Schoolbook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9F401-74E4-6962-E011-F0C9C439FD93}"/>
              </a:ext>
            </a:extLst>
          </p:cNvPr>
          <p:cNvSpPr txBox="1"/>
          <p:nvPr/>
        </p:nvSpPr>
        <p:spPr>
          <a:xfrm>
            <a:off x="6099391" y="793024"/>
            <a:ext cx="5923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Schoolbook" panose="02040604050505020304" pitchFamily="18" charset="0"/>
              </a:rPr>
              <a:t>By using Histogram  roles applied feature is displayed to check the job types.</a:t>
            </a:r>
            <a:endParaRPr lang="en-IN" sz="20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01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C3D8-B29D-4325-BAC6-9302111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3290" y="0"/>
            <a:ext cx="3131709" cy="706472"/>
          </a:xfrm>
        </p:spPr>
        <p:txBody>
          <a:bodyPr/>
          <a:lstStyle/>
          <a:p>
            <a:pPr algn="ctr"/>
            <a:r>
              <a:rPr lang="en-IN" dirty="0"/>
              <a:t>Word cloud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0CE317-1375-2C7D-3838-D05972C0C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706472"/>
            <a:ext cx="12192001" cy="6151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64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C3D8-B29D-4325-BAC6-9302111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820" y="0"/>
            <a:ext cx="3131709" cy="706472"/>
          </a:xfrm>
        </p:spPr>
        <p:txBody>
          <a:bodyPr/>
          <a:lstStyle/>
          <a:p>
            <a:pPr algn="ctr"/>
            <a:r>
              <a:rPr lang="en-IN" dirty="0"/>
              <a:t>TF-IDF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6B1719-2E7B-9E58-705D-EAFE4EEEC073}"/>
              </a:ext>
            </a:extLst>
          </p:cNvPr>
          <p:cNvSpPr txBox="1"/>
          <p:nvPr/>
        </p:nvSpPr>
        <p:spPr>
          <a:xfrm>
            <a:off x="442751" y="1425830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02124"/>
                </a:solidFill>
                <a:effectLst/>
                <a:latin typeface="Century Schoolbook" panose="02040604050505020304" pitchFamily="18" charset="0"/>
              </a:rPr>
              <a:t>TF-IDF is better than Count Vectorizers because it not only focuses on the frequency of words present in the corpus but also provides the importance of the words</a:t>
            </a:r>
            <a:r>
              <a:rPr lang="en-US" b="0" i="0" dirty="0">
                <a:solidFill>
                  <a:srgbClr val="202124"/>
                </a:solidFill>
                <a:effectLst/>
                <a:latin typeface="Century Schoolbook" panose="020406040505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02124"/>
              </a:solidFill>
              <a:effectLst/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02124"/>
                </a:solidFill>
                <a:effectLst/>
                <a:latin typeface="Century Schoolbook" panose="02040604050505020304" pitchFamily="18" charset="0"/>
              </a:rPr>
              <a:t>We can then remove the words that are less important for analysis, hence making the model building less complex by reducing the input dimensions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5EA90-CF44-E5FF-3D12-57EA27ECF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978"/>
          <a:stretch/>
        </p:blipFill>
        <p:spPr>
          <a:xfrm>
            <a:off x="295566" y="3429000"/>
            <a:ext cx="1189643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32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33E01B4-96EB-3869-FC8B-98A8B06EE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11" y="3869017"/>
            <a:ext cx="10688702" cy="171690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B1B3555-33AC-0E72-0D1C-10C36FAA29FF}"/>
              </a:ext>
            </a:extLst>
          </p:cNvPr>
          <p:cNvSpPr txBox="1">
            <a:spLocks/>
          </p:cNvSpPr>
          <p:nvPr/>
        </p:nvSpPr>
        <p:spPr>
          <a:xfrm>
            <a:off x="4248972" y="39501"/>
            <a:ext cx="3131709" cy="7064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/>
              <a:t>Train-Test Split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1A1AB-46EA-E316-E830-B782E6C95A20}"/>
              </a:ext>
            </a:extLst>
          </p:cNvPr>
          <p:cNvSpPr txBox="1"/>
          <p:nvPr/>
        </p:nvSpPr>
        <p:spPr>
          <a:xfrm>
            <a:off x="973611" y="1153333"/>
            <a:ext cx="102447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train-test split is crucial for accurately evaluating machine learning models. Typically, data is divided into 80% for training and 20% for testing, with metrics like accuracy used to measure performance. Techniques like cross-validation help validate models and avoid overfitting. Visualizing this split is key to understanding how models are trained and evaluated.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71717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C3D8-B29D-4325-BAC6-9302111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352"/>
            <a:ext cx="12192000" cy="706472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Model- Building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20FED1A-A383-9CAE-38C7-21241953B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2" y="1246435"/>
            <a:ext cx="10270836" cy="551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683CAD-ED0A-1761-A53C-B5AA2B0A5EAE}"/>
              </a:ext>
            </a:extLst>
          </p:cNvPr>
          <p:cNvSpPr txBox="1"/>
          <p:nvPr/>
        </p:nvSpPr>
        <p:spPr>
          <a:xfrm>
            <a:off x="4530145" y="622158"/>
            <a:ext cx="313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Accuracy on Testing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91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C3D8-B29D-4325-BAC6-9302111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836" y="-64958"/>
            <a:ext cx="6691745" cy="706472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Model-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83CAD-ED0A-1761-A53C-B5AA2B0A5EAE}"/>
              </a:ext>
            </a:extLst>
          </p:cNvPr>
          <p:cNvSpPr txBox="1"/>
          <p:nvPr/>
        </p:nvSpPr>
        <p:spPr>
          <a:xfrm>
            <a:off x="4176853" y="456848"/>
            <a:ext cx="313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Metrics on Testing Data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CF380-98EC-C43F-9CF7-D0107A769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043" y="923564"/>
            <a:ext cx="8399913" cy="42641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5E5FDC-6509-F942-2002-BBCF90BC0CDC}"/>
              </a:ext>
            </a:extLst>
          </p:cNvPr>
          <p:cNvSpPr txBox="1"/>
          <p:nvPr/>
        </p:nvSpPr>
        <p:spPr>
          <a:xfrm>
            <a:off x="0" y="5288340"/>
            <a:ext cx="120462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Here, we have taken Model building algorithms such as Decision Tree Classifier,  Logistic Regression, SVM, Random , Forest,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Among these algorithms, 100% Accuracy, Precision, Recall and F1-score have been achieved.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100% accuracy is achieved by using the model Random Forest, Decision Tree and Gradient Boosting Classifier.</a:t>
            </a:r>
            <a:endParaRPr lang="en-IN" sz="16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900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C3D8-B29D-4325-BAC6-9302111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150" y="1622"/>
            <a:ext cx="5600700" cy="70647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Model-Evaluation Report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54A8CF3-4723-CA82-5F39-BC6C4BED0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73" y="1902700"/>
            <a:ext cx="3939996" cy="296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4AC481-3027-12A5-D910-F34315CAE7B2}"/>
              </a:ext>
            </a:extLst>
          </p:cNvPr>
          <p:cNvSpPr txBox="1"/>
          <p:nvPr/>
        </p:nvSpPr>
        <p:spPr>
          <a:xfrm>
            <a:off x="373630" y="1218676"/>
            <a:ext cx="349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Random Forest Classification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E3064-58E7-2DF8-5EA3-838E4B731F42}"/>
              </a:ext>
            </a:extLst>
          </p:cNvPr>
          <p:cNvSpPr txBox="1"/>
          <p:nvPr/>
        </p:nvSpPr>
        <p:spPr>
          <a:xfrm>
            <a:off x="72887" y="5459780"/>
            <a:ext cx="120462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Here, we have taken Random Forest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100% Accuracy, Precision, Recall and F1-score have been achieved.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No overfitting or underfitting has been found. All classes are classified correctly and no misclassification.</a:t>
            </a:r>
            <a:endParaRPr lang="en-IN" sz="1600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11BC2-49D0-FF71-6E30-8E84ABB14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47" y="708094"/>
            <a:ext cx="4441612" cy="562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04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C3D8-B29D-4325-BAC6-9302111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423" y="580571"/>
            <a:ext cx="2838450" cy="526138"/>
          </a:xfrm>
        </p:spPr>
        <p:txBody>
          <a:bodyPr>
            <a:normAutofit fontScale="90000"/>
          </a:bodyPr>
          <a:lstStyle/>
          <a:p>
            <a:r>
              <a:rPr lang="en-IN" dirty="0"/>
              <a:t>Deployment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8F0ACA-5187-51C5-C1DE-C47568D78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3" y="1262743"/>
            <a:ext cx="10555173" cy="559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60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C3D8-B29D-4325-BAC6-9302111B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352"/>
            <a:ext cx="4655127" cy="706472"/>
          </a:xfrm>
        </p:spPr>
        <p:txBody>
          <a:bodyPr>
            <a:normAutofit/>
          </a:bodyPr>
          <a:lstStyle/>
          <a:p>
            <a:r>
              <a:rPr lang="en-IN" dirty="0"/>
              <a:t>Deployment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708CD-C504-B58E-1C49-55121AB8B9BC}"/>
              </a:ext>
            </a:extLst>
          </p:cNvPr>
          <p:cNvSpPr txBox="1"/>
          <p:nvPr/>
        </p:nvSpPr>
        <p:spPr>
          <a:xfrm>
            <a:off x="8691418" y="1413584"/>
            <a:ext cx="3251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Here, we have taken Random Forest as our Final Model algorithms for the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The algorithm has achieved 100% Accuracy, Precision, Recall and F1-score on testing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100% accuracy is achieved by using the model Random Forest no misclassification on validation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entury Schoolbook" panose="02040604050505020304" pitchFamily="18" charset="0"/>
              </a:rPr>
              <a:t>We have deployed the Resume Classification using Stream-lit as the platform</a:t>
            </a:r>
            <a:endParaRPr lang="en-IN" sz="1600" dirty="0">
              <a:latin typeface="Century Schoolbook" panose="020406040505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870DC2-C834-539F-3BD7-78B81DC31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6841"/>
            <a:ext cx="8691418" cy="569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11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8D2B-2054-489A-9BC6-A12AFC71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819" y="1961307"/>
            <a:ext cx="5196362" cy="1405176"/>
          </a:xfrm>
        </p:spPr>
        <p:txBody>
          <a:bodyPr>
            <a:normAutofit/>
          </a:bodyPr>
          <a:lstStyle/>
          <a:p>
            <a:pPr algn="ctr"/>
            <a:r>
              <a:rPr lang="en-US" sz="7200" b="1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you…</a:t>
            </a:r>
            <a:endParaRPr lang="en-IN" sz="7200" b="1" i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60705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2021</TotalTime>
  <Words>524</Words>
  <Application>Microsoft Office PowerPoint</Application>
  <PresentationFormat>Widescreen</PresentationFormat>
  <Paragraphs>63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Wisp</vt:lpstr>
      <vt:lpstr>PowerPoint Presentation</vt:lpstr>
      <vt:lpstr>PowerPoint Presentation</vt:lpstr>
      <vt:lpstr>PowerPoint Presentation</vt:lpstr>
      <vt:lpstr>PowerPoint Presentation</vt:lpstr>
      <vt:lpstr>Merging all category files.</vt:lpstr>
      <vt:lpstr>PowerPoint Presentation</vt:lpstr>
      <vt:lpstr>PowerPoint Presentation</vt:lpstr>
      <vt:lpstr>PowerPoint Presentation</vt:lpstr>
      <vt:lpstr>PowerPoint Presentation</vt:lpstr>
      <vt:lpstr>Labels</vt:lpstr>
      <vt:lpstr>Word cloud </vt:lpstr>
      <vt:lpstr>TF-IDF</vt:lpstr>
      <vt:lpstr>PowerPoint Presentation</vt:lpstr>
      <vt:lpstr>Model- Building</vt:lpstr>
      <vt:lpstr>Model- Evaluation</vt:lpstr>
      <vt:lpstr>Model-Evaluation Report</vt:lpstr>
      <vt:lpstr>Deployment</vt:lpstr>
      <vt:lpstr>Deployment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set Details and Cleaning</dc:title>
  <dc:creator>Venkat Satya sai</dc:creator>
  <cp:lastModifiedBy>Mayuresh Gore</cp:lastModifiedBy>
  <cp:revision>58</cp:revision>
  <dcterms:created xsi:type="dcterms:W3CDTF">2021-11-03T10:03:37Z</dcterms:created>
  <dcterms:modified xsi:type="dcterms:W3CDTF">2025-09-05T08:31:47Z</dcterms:modified>
</cp:coreProperties>
</file>